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9" r:id="rId2"/>
    <p:sldId id="330" r:id="rId3"/>
    <p:sldId id="347" r:id="rId4"/>
    <p:sldId id="348" r:id="rId5"/>
    <p:sldId id="349" r:id="rId6"/>
    <p:sldId id="350" r:id="rId7"/>
    <p:sldId id="351" r:id="rId8"/>
    <p:sldId id="352" r:id="rId9"/>
    <p:sldId id="281" r:id="rId10"/>
    <p:sldId id="34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1" autoAdjust="0"/>
    <p:restoredTop sz="86626" autoAdjust="0"/>
  </p:normalViewPr>
  <p:slideViewPr>
    <p:cSldViewPr snapToGrid="0">
      <p:cViewPr varScale="1">
        <p:scale>
          <a:sx n="98" d="100"/>
          <a:sy n="98" d="100"/>
        </p:scale>
        <p:origin x="816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9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6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2024年11月15日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Lab6 -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PEViewer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47DFC-9119-3A66-BAE6-726EBC8EC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73C52DC-19A4-8E15-7CBF-82A6E863B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444166"/>
              </p:ext>
            </p:extLst>
          </p:nvPr>
        </p:nvGraphicFramePr>
        <p:xfrm>
          <a:off x="5982512" y="363840"/>
          <a:ext cx="4884284" cy="7011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638628" imgH="6667436" progId="Visio.Drawing.15">
                  <p:embed/>
                </p:oleObj>
              </mc:Choice>
              <mc:Fallback>
                <p:oleObj name="Visio" r:id="rId2" imgW="4638628" imgH="666743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2512" y="363840"/>
                        <a:ext cx="4884284" cy="7011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F3D1C8-BC32-089B-BD0F-A9693F1173D0}"/>
              </a:ext>
            </a:extLst>
          </p:cNvPr>
          <p:cNvSpPr txBox="1"/>
          <p:nvPr/>
        </p:nvSpPr>
        <p:spPr>
          <a:xfrm>
            <a:off x="103073" y="2128014"/>
            <a:ext cx="5791889" cy="259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二进制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文件包括：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部分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文件头、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 Table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节数据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）、调试信息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个部分。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5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674D-3DCD-A658-03EE-29B9231B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AD839E-3713-2D96-8393-330E38484A43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72EA7-3797-A528-7D2F-08E0E55E694F}"/>
              </a:ext>
            </a:extLst>
          </p:cNvPr>
          <p:cNvSpPr txBox="1"/>
          <p:nvPr/>
        </p:nvSpPr>
        <p:spPr>
          <a:xfrm>
            <a:off x="244908" y="1478882"/>
            <a:ext cx="5130408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部分包含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头（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 Header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）和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存根（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 Stub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）两个主要组成部分。它的存在目的是为了保持向后兼容性，确保在不支持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结构的旧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DOS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系统上尝试执行这些文件时，能够给出一个用户友好的提示消息。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9AC214-1B8B-1069-F767-A9D69BC98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055" y="1375839"/>
            <a:ext cx="6571777" cy="464374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5FE4795-0B89-CD10-040D-9A2853DCA95B}"/>
              </a:ext>
            </a:extLst>
          </p:cNvPr>
          <p:cNvCxnSpPr/>
          <p:nvPr/>
        </p:nvCxnSpPr>
        <p:spPr>
          <a:xfrm>
            <a:off x="5546335" y="1789889"/>
            <a:ext cx="520429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E1DAFA8-8624-2820-6828-4B3F2FBD2854}"/>
              </a:ext>
            </a:extLst>
          </p:cNvPr>
          <p:cNvCxnSpPr>
            <a:cxnSpLocks/>
          </p:cNvCxnSpPr>
          <p:nvPr/>
        </p:nvCxnSpPr>
        <p:spPr>
          <a:xfrm>
            <a:off x="5546335" y="5755531"/>
            <a:ext cx="419105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07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641FC5-28AD-5795-4F83-5D8F1F6C2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58" y="4198379"/>
            <a:ext cx="10874185" cy="18575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B6A6EB6-DD1C-7E60-D7F7-1B790C2B5D3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057314-373F-66B2-D28F-7CB8B101A74E}"/>
              </a:ext>
            </a:extLst>
          </p:cNvPr>
          <p:cNvCxnSpPr>
            <a:cxnSpLocks/>
          </p:cNvCxnSpPr>
          <p:nvPr/>
        </p:nvCxnSpPr>
        <p:spPr>
          <a:xfrm>
            <a:off x="597072" y="4887514"/>
            <a:ext cx="1054469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2C5D42E-F2E8-9FFF-242C-204B7917F8C7}"/>
              </a:ext>
            </a:extLst>
          </p:cNvPr>
          <p:cNvSpPr txBox="1"/>
          <p:nvPr/>
        </p:nvSpPr>
        <p:spPr>
          <a:xfrm>
            <a:off x="312854" y="1045252"/>
            <a:ext cx="11574346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 Header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）是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相关结构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NT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映像头（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IMAGE_NT_HEADERS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）的简称，定义了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文件的整体格式和属性。当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文件在支持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文件结构的操作系统中执行时，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装载器会从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DOS MZ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头的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e_lfanew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字段找到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文件头的起始偏移量，然后根据这个偏移量加上基址，得到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文件头的指针。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文件头包括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Signature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FileHeader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OptionalHeader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三部分。</a:t>
            </a:r>
          </a:p>
        </p:txBody>
      </p:sp>
    </p:spTree>
    <p:extLst>
      <p:ext uri="{BB962C8B-B14F-4D97-AF65-F5344CB8AC3E}">
        <p14:creationId xmlns:p14="http://schemas.microsoft.com/office/powerpoint/2010/main" val="401302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B9CD-ECA2-5D1B-D18E-3F92FBED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8E1A29-275A-0F86-4D3F-63399662A22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3A8E5A-38D5-FB97-142A-A848BDE178C8}"/>
              </a:ext>
            </a:extLst>
          </p:cNvPr>
          <p:cNvSpPr txBox="1"/>
          <p:nvPr/>
        </p:nvSpPr>
        <p:spPr>
          <a:xfrm>
            <a:off x="312854" y="1045252"/>
            <a:ext cx="11574346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映像文件头（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IMAGE_FILE_HEADER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）结构定义了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文件的基本特征，如平台类型、节数量等。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4A24279-6A8E-A593-E614-1E66F843ADB7}"/>
              </a:ext>
            </a:extLst>
          </p:cNvPr>
          <p:cNvGrpSpPr/>
          <p:nvPr/>
        </p:nvGrpSpPr>
        <p:grpSpPr>
          <a:xfrm>
            <a:off x="1511867" y="2681916"/>
            <a:ext cx="9168266" cy="3138135"/>
            <a:chOff x="1456665" y="3837491"/>
            <a:chExt cx="8825506" cy="273711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F8910DB-A746-DFF1-9461-0308F7950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6665" y="3837491"/>
              <a:ext cx="8825506" cy="2737118"/>
            </a:xfrm>
            <a:prstGeom prst="rect">
              <a:avLst/>
            </a:prstGeom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C71F880C-8A4B-9E16-7C53-D3C35307C515}"/>
                </a:ext>
              </a:extLst>
            </p:cNvPr>
            <p:cNvCxnSpPr>
              <a:cxnSpLocks/>
            </p:cNvCxnSpPr>
            <p:nvPr/>
          </p:nvCxnSpPr>
          <p:spPr>
            <a:xfrm>
              <a:off x="1571394" y="4738427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45CED20-AA0F-5477-0AA3-C83ACFFD1DB1}"/>
                </a:ext>
              </a:extLst>
            </p:cNvPr>
            <p:cNvCxnSpPr>
              <a:cxnSpLocks/>
            </p:cNvCxnSpPr>
            <p:nvPr/>
          </p:nvCxnSpPr>
          <p:spPr>
            <a:xfrm>
              <a:off x="1571394" y="5069731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159255F-A07E-931E-EDE2-9DCDA1DDB286}"/>
                </a:ext>
              </a:extLst>
            </p:cNvPr>
            <p:cNvCxnSpPr>
              <a:cxnSpLocks/>
            </p:cNvCxnSpPr>
            <p:nvPr/>
          </p:nvCxnSpPr>
          <p:spPr>
            <a:xfrm>
              <a:off x="1571394" y="6202792"/>
              <a:ext cx="630039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390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1752EA6-C89D-48D3-D86A-93C0E5F47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173257"/>
              </p:ext>
            </p:extLst>
          </p:nvPr>
        </p:nvGraphicFramePr>
        <p:xfrm>
          <a:off x="5935854" y="633724"/>
          <a:ext cx="5146275" cy="55905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4501">
                  <a:extLst>
                    <a:ext uri="{9D8B030D-6E8A-4147-A177-3AD203B41FA5}">
                      <a16:colId xmlns:a16="http://schemas.microsoft.com/office/drawing/2014/main" val="691662957"/>
                    </a:ext>
                  </a:extLst>
                </a:gridCol>
                <a:gridCol w="3971774">
                  <a:extLst>
                    <a:ext uri="{9D8B030D-6E8A-4147-A177-3AD203B41FA5}">
                      <a16:colId xmlns:a16="http://schemas.microsoft.com/office/drawing/2014/main" val="3457380695"/>
                    </a:ext>
                  </a:extLst>
                </a:gridCol>
              </a:tblGrid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zh-CN" sz="1200" b="1" kern="100" dirty="0">
                          <a:effectLst/>
                        </a:rPr>
                        <a:t>特征值</a:t>
                      </a:r>
                      <a:endParaRPr lang="zh-CN" sz="1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 kern="100" dirty="0">
                          <a:effectLst/>
                        </a:rPr>
                        <a:t>说明</a:t>
                      </a:r>
                      <a:endParaRPr lang="zh-CN" sz="1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0410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未知的机器类型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279020392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重定位信息已被移除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225614635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0x0002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可执行文件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1814121891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0x0004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行号信息已被移除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3703432066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0x0008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本地符号信息已被移除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930383519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0x0010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内存使用策略为最小化内存使用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460663130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0x0020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支持大地址空间的可执行文件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4019495469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0x0080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字节反转，低字节在前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673399180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0x0100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32</a:t>
                      </a:r>
                      <a:r>
                        <a:rPr lang="zh-CN" sz="1200" kern="100">
                          <a:effectLst/>
                        </a:rPr>
                        <a:t>位机器类型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029810258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0x0200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调试信息已被移除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890989079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0x0400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可移动文件，可从交换文件中运行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569294233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0x0800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>
                          <a:effectLst/>
                        </a:rPr>
                        <a:t>网络文件，可从交换文件中运行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488221652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0x1000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系统文件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2615342522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0x2000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 dirty="0">
                          <a:effectLst/>
                        </a:rPr>
                        <a:t>DLL</a:t>
                      </a:r>
                      <a:r>
                        <a:rPr lang="zh-CN" sz="1200" kern="100" dirty="0">
                          <a:effectLst/>
                        </a:rPr>
                        <a:t>文件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1201784673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0x4000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该文件应该仅运行在单处理器系统上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602113492"/>
                  </a:ext>
                </a:extLst>
              </a:tr>
              <a:tr h="328856">
                <a:tc>
                  <a:txBody>
                    <a:bodyPr/>
                    <a:lstStyle/>
                    <a:p>
                      <a:pPr algn="ctr"/>
                      <a:r>
                        <a:rPr lang="en-US" sz="1200" kern="100">
                          <a:effectLst/>
                        </a:rPr>
                        <a:t>0x8000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100" dirty="0">
                          <a:effectLst/>
                        </a:rPr>
                        <a:t>字节反转，高字节在前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889" marR="60889" marT="0" marB="0" anchor="ctr"/>
                </a:tc>
                <a:extLst>
                  <a:ext uri="{0D108BD9-81ED-4DB2-BD59-A6C34878D82A}">
                    <a16:rowId xmlns:a16="http://schemas.microsoft.com/office/drawing/2014/main" val="74398744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14FD143-DE67-FE1B-5A7A-7092D328B580}"/>
              </a:ext>
            </a:extLst>
          </p:cNvPr>
          <p:cNvSpPr txBox="1"/>
          <p:nvPr/>
        </p:nvSpPr>
        <p:spPr>
          <a:xfrm>
            <a:off x="434837" y="1849181"/>
            <a:ext cx="5051564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Characteristics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表示文件的特征标志，包括了一系列位标志，用于描述文件的一些特性，如是否为可执行文件、是否为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DLL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文件、是否需要对齐等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E7F533-7622-B106-3582-C2586F1FD1B5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03175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102C-04B5-928C-FDE0-19785205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5DEE73-4265-4FB1-21FA-B172244190A5}"/>
              </a:ext>
            </a:extLst>
          </p:cNvPr>
          <p:cNvSpPr txBox="1"/>
          <p:nvPr/>
        </p:nvSpPr>
        <p:spPr>
          <a:xfrm>
            <a:off x="240284" y="1763191"/>
            <a:ext cx="5207206" cy="333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可选头（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Optional Header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）包含了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文件的许多关键属性，如程序入口点地址、文件对齐方式、基址、数据目录等。这些属性对于操作系统来说是非常重要的，直接影响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文件的加载和执行过程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D95A63-D7F1-905D-44B5-DCDFC103F58D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PE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文件结构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07529C-FB07-F91E-252C-755B8146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597" y="121383"/>
            <a:ext cx="5849566" cy="6485511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A0B7E2-FC07-8DD4-54A2-803445A55D99}"/>
              </a:ext>
            </a:extLst>
          </p:cNvPr>
          <p:cNvCxnSpPr>
            <a:cxnSpLocks/>
          </p:cNvCxnSpPr>
          <p:nvPr/>
        </p:nvCxnSpPr>
        <p:spPr>
          <a:xfrm>
            <a:off x="5999770" y="1681768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E0BB2D4-6BC0-692F-3566-61E8584982C4}"/>
              </a:ext>
            </a:extLst>
          </p:cNvPr>
          <p:cNvCxnSpPr>
            <a:cxnSpLocks/>
          </p:cNvCxnSpPr>
          <p:nvPr/>
        </p:nvCxnSpPr>
        <p:spPr>
          <a:xfrm>
            <a:off x="5999770" y="2271912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73C7744-9C09-3F15-32D7-E2994132F9F1}"/>
              </a:ext>
            </a:extLst>
          </p:cNvPr>
          <p:cNvCxnSpPr>
            <a:cxnSpLocks/>
          </p:cNvCxnSpPr>
          <p:nvPr/>
        </p:nvCxnSpPr>
        <p:spPr>
          <a:xfrm>
            <a:off x="5999770" y="2447011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79586D0-6A87-F677-DCA9-0D338E5A1F2A}"/>
              </a:ext>
            </a:extLst>
          </p:cNvPr>
          <p:cNvCxnSpPr>
            <a:cxnSpLocks/>
          </p:cNvCxnSpPr>
          <p:nvPr/>
        </p:nvCxnSpPr>
        <p:spPr>
          <a:xfrm>
            <a:off x="5999770" y="2661019"/>
            <a:ext cx="48076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79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153B-CEC3-8F20-E232-0A4CEE675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E62932-BAEA-C24D-86C8-45D61B92DF9E}"/>
              </a:ext>
            </a:extLst>
          </p:cNvPr>
          <p:cNvSpPr txBox="1"/>
          <p:nvPr/>
        </p:nvSpPr>
        <p:spPr>
          <a:xfrm>
            <a:off x="150831" y="1008534"/>
            <a:ext cx="11578823" cy="535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读一个文件用到的</a:t>
            </a:r>
            <a:r>
              <a:rPr lang="en-US" altLang="zh-CN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函数：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CreateFile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SetFilePointer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ReadFile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2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CloseHandle</a:t>
            </a:r>
            <a:r>
              <a:rPr lang="zh-CN" altLang="en-US" sz="2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401A39-77F8-BA79-4FB2-3428A45C1745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文件读操作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1CF52A9-B685-E19B-4B53-7812DC71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03" y="1853896"/>
            <a:ext cx="7777794" cy="43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89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221028" y="1108004"/>
            <a:ext cx="71634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文件的文件名，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程序调用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 API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函数，打开指定的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文件；</a:t>
            </a:r>
          </a:p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从文件的头部开始，读取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IMAGE_DOS_HEADER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e_magic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e_lfanew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字段的值；</a:t>
            </a:r>
          </a:p>
          <a:p>
            <a:pPr marL="342900" lvl="0" indent="-342900" algn="just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文件的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Signature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字段的值；</a:t>
            </a:r>
          </a:p>
          <a:p>
            <a:pPr marL="342900" lvl="0" indent="-342900" algn="l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IMAGE_FILE_HEADER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结构，从中读取出字段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NumberOfSections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TimeDateStamp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Characteristics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的值；</a:t>
            </a:r>
          </a:p>
          <a:p>
            <a:pPr marL="342900" lvl="0" indent="-342900" algn="l">
              <a:buFont typeface="+mj-lt"/>
              <a:buAutoNum type="arabicParenR"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继续读取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IMAGE_NT_HEADER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结构中的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IMAGE_OPTIONAL_HEADER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结构，从中读取字段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AddressOfEntryPoint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ImageBase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SectionAlignment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FileAlignment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CF9509-1622-849A-F1CE-F03C7C836A95}"/>
              </a:ext>
            </a:extLst>
          </p:cNvPr>
          <p:cNvGrpSpPr/>
          <p:nvPr/>
        </p:nvGrpSpPr>
        <p:grpSpPr>
          <a:xfrm>
            <a:off x="7578058" y="1624843"/>
            <a:ext cx="4342591" cy="4407907"/>
            <a:chOff x="0" y="0"/>
            <a:chExt cx="5410554" cy="459438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7B1D6B0-D57D-106C-3853-A225CB0CCD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2053"/>
            <a:stretch/>
          </p:blipFill>
          <p:spPr>
            <a:xfrm>
              <a:off x="0" y="3012921"/>
              <a:ext cx="5410554" cy="158146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8F69F9AA-88BA-DE6C-E141-04467F8FA3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5697"/>
            <a:stretch/>
          </p:blipFill>
          <p:spPr>
            <a:xfrm>
              <a:off x="0" y="0"/>
              <a:ext cx="5410554" cy="307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7817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15343" y="1218095"/>
            <a:ext cx="10761314" cy="289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程序的设计说明和控制流图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peviewer.asm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的源代码和注释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peviewer.exe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运行截图</a:t>
            </a:r>
          </a:p>
        </p:txBody>
      </p:sp>
    </p:spTree>
    <p:extLst>
      <p:ext uri="{BB962C8B-B14F-4D97-AF65-F5344CB8AC3E}">
        <p14:creationId xmlns:p14="http://schemas.microsoft.com/office/powerpoint/2010/main" val="73795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4407</TotalTime>
  <Words>625</Words>
  <Application>Microsoft Office PowerPoint</Application>
  <PresentationFormat>宽屏</PresentationFormat>
  <Paragraphs>66</Paragraphs>
  <Slides>10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方正姚体</vt:lpstr>
      <vt:lpstr>Arial</vt:lpstr>
      <vt:lpstr>Calibri</vt:lpstr>
      <vt:lpstr>Times New Roman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67</cp:revision>
  <dcterms:created xsi:type="dcterms:W3CDTF">2020-05-18T06:41:58Z</dcterms:created>
  <dcterms:modified xsi:type="dcterms:W3CDTF">2024-11-15T02:19:11Z</dcterms:modified>
</cp:coreProperties>
</file>