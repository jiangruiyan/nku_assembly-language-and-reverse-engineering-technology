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9" r:id="rId2"/>
    <p:sldId id="281" r:id="rId3"/>
    <p:sldId id="323" r:id="rId4"/>
    <p:sldId id="324" r:id="rId5"/>
    <p:sldId id="325" r:id="rId6"/>
    <p:sldId id="326" r:id="rId7"/>
    <p:sldId id="327" r:id="rId8"/>
    <p:sldId id="32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>
    <p:extLst>
      <p:ext uri="{19B8F6BF-5375-455C-9EA6-DF929625EA0E}">
        <p15:presenceInfo xmlns:p15="http://schemas.microsoft.com/office/powerpoint/2012/main" userId="b8725204f13f93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4" autoAdjust="0"/>
    <p:restoredTop sz="86596" autoAdjust="0"/>
  </p:normalViewPr>
  <p:slideViewPr>
    <p:cSldViewPr snapToGrid="0">
      <p:cViewPr varScale="1">
        <p:scale>
          <a:sx n="94" d="100"/>
          <a:sy n="94" d="100"/>
        </p:scale>
        <p:origin x="978" y="18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5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66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491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141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289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700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458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11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DEAE36E-49CE-4FD2-A89B-93B59BB486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B6B2510-D192-43DB-B7BF-5EFDD13C83C8}"/>
              </a:ext>
            </a:extLst>
          </p:cNvPr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AB3CE2-7F36-4AC9-AB49-E9C74065D5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CF50560-2190-4576-A880-46A71332D9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691610-7496-4691-8DA4-2BF5C662F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E72F19DE-C933-4780-A9D5-5E3A9F568DDF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1E3773-541B-45DF-AAE2-F3E8FFBA5ACD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</p:spTree>
    <p:extLst>
      <p:ext uri="{BB962C8B-B14F-4D97-AF65-F5344CB8AC3E}">
        <p14:creationId xmlns:p14="http://schemas.microsoft.com/office/powerpoint/2010/main" val="377377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A866AF-CBFF-4C86-BA67-F57674E8EA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7AFC30-0CB1-4131-8AD1-611EA0244966}"/>
              </a:ext>
            </a:extLst>
          </p:cNvPr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7761ED-316B-4AE1-A021-254B2F5CD0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ED8D39C-821D-47EE-BD55-1FE178276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EF8460B-605A-4CA8-947B-343AFD9F23B6}"/>
              </a:ext>
            </a:extLst>
          </p:cNvPr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5100BB-0432-4179-A29E-EEB5A4B8787C}"/>
              </a:ext>
            </a:extLst>
          </p:cNvPr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800CBB8-382E-4297-8D6A-9F3DBC1FE2DA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2C5CEF0-4329-452D-A297-35B9DC34B894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E49BFA-A960-4E35-903B-1897E749948E}"/>
              </a:ext>
            </a:extLst>
          </p:cNvPr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FB85FE9-2C21-472B-AAAA-BF22B9BF222D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3D38E28-B9F5-47DD-AF00-F89CD4302A0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65C5B11-A62F-4D79-B635-6FBB96A4AEC9}"/>
              </a:ext>
            </a:extLst>
          </p:cNvPr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0AED6A3-0F83-4155-9EE2-13D2E46D5AFB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A9DCE57-A921-4984-AFA7-DBDDCDCE61E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>
            <a:extLst>
              <a:ext uri="{FF2B5EF4-FFF2-40B4-BE49-F238E27FC236}">
                <a16:creationId xmlns:a16="http://schemas.microsoft.com/office/drawing/2014/main" id="{A8BD827C-BE4B-4E1A-88E5-F73C35192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>
            <a:extLst>
              <a:ext uri="{FF2B5EF4-FFF2-40B4-BE49-F238E27FC236}">
                <a16:creationId xmlns:a16="http://schemas.microsoft.com/office/drawing/2014/main" id="{A9B9B316-9FF5-4EB7-992D-492851A87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>
            <a:extLst>
              <a:ext uri="{FF2B5EF4-FFF2-40B4-BE49-F238E27FC236}">
                <a16:creationId xmlns:a16="http://schemas.microsoft.com/office/drawing/2014/main" id="{403969BD-68AD-4CFC-B767-A6888CAEFA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E306EE0-12D4-47EF-B90C-0A0A11721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04C5E518-740F-4A9C-AFD4-3655088CC4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C55F21E-5046-4A19-9519-EDF76DD994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965D6D8-71F1-40FF-BAE1-CAB1438E3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5417601-2881-4637-B17F-CF0977894B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9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AF22D12-7BD8-4802-B35A-AC6A517FA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4717B2-31B8-4E92-BDC1-85A8064411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>
            <a:extLst>
              <a:ext uri="{FF2B5EF4-FFF2-40B4-BE49-F238E27FC236}">
                <a16:creationId xmlns:a16="http://schemas.microsoft.com/office/drawing/2014/main" id="{1C0B404B-7FE1-4A2E-BAA6-98454F02B4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>
            <a:extLst>
              <a:ext uri="{FF2B5EF4-FFF2-40B4-BE49-F238E27FC236}">
                <a16:creationId xmlns:a16="http://schemas.microsoft.com/office/drawing/2014/main" id="{047E7C01-3DCE-455E-BD4E-D920D2FEB5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>
            <a:extLst>
              <a:ext uri="{FF2B5EF4-FFF2-40B4-BE49-F238E27FC236}">
                <a16:creationId xmlns:a16="http://schemas.microsoft.com/office/drawing/2014/main" id="{6F7AD09C-1494-45C9-922C-30BCBEFF91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45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9044961-BE02-43FC-A441-D6C0F8F36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63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>
            <a:extLst>
              <a:ext uri="{FF2B5EF4-FFF2-40B4-BE49-F238E27FC236}">
                <a16:creationId xmlns:a16="http://schemas.microsoft.com/office/drawing/2014/main" id="{785AFE29-EA95-4251-A3A9-674E8205AA9F}"/>
              </a:ext>
            </a:extLst>
          </p:cNvPr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B59C19AF-9414-469B-9133-A614C2493A5C}"/>
              </a:ext>
            </a:extLst>
          </p:cNvPr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805E5244-F9CA-44E2-9488-5C3885FF803F}"/>
              </a:ext>
            </a:extLst>
          </p:cNvPr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A2849A6-E3DE-466E-8203-308FA2624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>
            <a:extLst>
              <a:ext uri="{FF2B5EF4-FFF2-40B4-BE49-F238E27FC236}">
                <a16:creationId xmlns:a16="http://schemas.microsoft.com/office/drawing/2014/main" id="{A9ED9AC2-4BF5-46F3-B2BF-33B92A780B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>
            <a:extLst>
              <a:ext uri="{FF2B5EF4-FFF2-40B4-BE49-F238E27FC236}">
                <a16:creationId xmlns:a16="http://schemas.microsoft.com/office/drawing/2014/main" id="{7602DC49-0295-49C4-8C52-493086A4DC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29E3E4D4-C6B8-45BE-A34B-E8C970A6C3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7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82C0BB-97E3-4E59-8E6D-E28ADA9A1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>
            <a:extLst>
              <a:ext uri="{FF2B5EF4-FFF2-40B4-BE49-F238E27FC236}">
                <a16:creationId xmlns:a16="http://schemas.microsoft.com/office/drawing/2014/main" id="{1A42AABA-2338-4F73-BC3D-B11D310B7B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415EDA-DD8D-44A9-A68B-5AE5CAC2B8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6FD032-69D6-4CC3-BB83-C57F4E47CDBE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07026F4-28F6-4291-87F1-1BEC01F3FCC7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3CB7D44-B5F3-45B5-A9D7-8FD363BC3A98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9F2D58-A8B4-49B0-B796-E615E886C4C8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1F6D4A5-212A-45AE-B9E2-836BB7F33432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5CCA15-D0EA-4214-8C1E-5A37D98F59DF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092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17571F1-7F19-4F2C-9E1B-F1D60A1C1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A148D0-4773-4F29-9655-EEA355885918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84803EE-5490-4695-979E-A30164C67EB5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740A0D5-DDB8-4AFA-804C-31518CA3175A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4EA144E-FC4A-43B0-BC57-E142F6F96F44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DE14F4D-5ECD-4C8D-A796-7C9A4CB79471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B8D1488-0BD5-4694-AA4B-E2432FEA9C62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CBA056-C739-470A-9AF6-D180CAB88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FDF48-3F79-4136-B902-DA97960B8A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7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  <a:t>2024年9月26日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2" r:id="rId4"/>
    <p:sldLayoutId id="2147483650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46B9712C-BA09-4F13-9BA2-AED347238ED5}"/>
              </a:ext>
            </a:extLst>
          </p:cNvPr>
          <p:cNvSpPr txBox="1">
            <a:spLocks/>
          </p:cNvSpPr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Lab2- dec2hex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22" name="内容占位符 14">
            <a:extLst>
              <a:ext uri="{FF2B5EF4-FFF2-40B4-BE49-F238E27FC236}">
                <a16:creationId xmlns:a16="http://schemas.microsoft.com/office/drawing/2014/main" id="{F8ECA188-EDBA-4335-8A11-A348ED1FD957}"/>
              </a:ext>
            </a:extLst>
          </p:cNvPr>
          <p:cNvSpPr txBox="1">
            <a:spLocks/>
          </p:cNvSpPr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latin typeface="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2024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月</a:t>
            </a:r>
            <a:endParaRPr lang="zh-CN" altLang="en-US" sz="2400" dirty="0">
              <a:latin typeface=""/>
              <a:ea typeface="微软雅黑" panose="020B0503020204020204" pitchFamily="34" charset="-122"/>
              <a:sym typeface="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0A08AA-29C1-4F37-ACEA-2C9B87A377F8}"/>
              </a:ext>
            </a:extLst>
          </p:cNvPr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0B776C-D310-45D7-A0CF-E6CE8CA5E631}"/>
                </a:ext>
              </a:extLst>
            </p:cNvPr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92991FE-ACED-47FF-9518-9AA593CEF89B}"/>
                </a:ext>
              </a:extLst>
            </p:cNvPr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45A2789-8087-4E0D-9920-E62D1F9D9248}"/>
                </a:ext>
              </a:extLst>
            </p:cNvPr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A5E36DE7-C9F1-4329-AA00-01E6E51F1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355F5AB-38CC-4F62-A0A1-BDAE14F99D1B}"/>
              </a:ext>
            </a:extLst>
          </p:cNvPr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B96CD09-B1CF-4B4B-87F6-7221B032C61E}"/>
                </a:ext>
              </a:extLst>
            </p:cNvPr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B09B1B-39FB-4D45-8774-3573AE9D5FFA}"/>
                </a:ext>
              </a:extLst>
            </p:cNvPr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4D75E6-DA2C-43EA-8C19-B310CEF1B47A}"/>
                </a:ext>
              </a:extLst>
            </p:cNvPr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130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821275" cy="2196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编写汇编程序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dec2hex.asm</a:t>
            </a: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，编译成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dec2hex.exe</a:t>
            </a: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dec2hex.exe</a:t>
            </a: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的功能是将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命令行输入的十进制无符号整数，转换成对应的十六进制整数，输出在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命令行中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0E48500-4790-A930-2905-875C66D0A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7" y="3807501"/>
            <a:ext cx="10395206" cy="164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1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761314" cy="367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一、从控制台读取字符串到缓冲区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StdIn</a:t>
            </a:r>
            <a:r>
              <a:rPr lang="zh-CN" altLang="en-US" sz="2400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定义：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StdIn  PROTO :DWORD,:DWORD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有两个参数，第一个是内存存储空间的起始地址，第二个是内存存储空间的大小。</a:t>
            </a:r>
            <a:endParaRPr lang="en-US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示例：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07A568C-CDB1-128D-8264-570E892A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117" y="3618324"/>
            <a:ext cx="5322835" cy="230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53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761314" cy="147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二、字符串转十进制整数（编写</a:t>
            </a:r>
            <a:r>
              <a:rPr lang="en-US" altLang="zh-CN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dec2dw</a:t>
            </a: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过程实现）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输入的十进制数对应的</a:t>
            </a:r>
            <a:r>
              <a:rPr lang="en-US" altLang="zh-CN" sz="20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ASCII</a:t>
            </a:r>
            <a:r>
              <a:rPr lang="zh-CN" altLang="zh-CN" sz="20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编码字符串</a:t>
            </a:r>
            <a:r>
              <a:rPr lang="zh-CN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存储在内存中</a:t>
            </a: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E7A875F-4BD7-3CFC-5DC4-1F4041F09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926212"/>
              </p:ext>
            </p:extLst>
          </p:nvPr>
        </p:nvGraphicFramePr>
        <p:xfrm>
          <a:off x="796102" y="2682240"/>
          <a:ext cx="6372000" cy="14935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52000">
                  <a:extLst>
                    <a:ext uri="{9D8B030D-6E8A-4147-A177-3AD203B41FA5}">
                      <a16:colId xmlns:a16="http://schemas.microsoft.com/office/drawing/2014/main" val="304110108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66148841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682901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2701527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89333089"/>
                    </a:ext>
                  </a:extLst>
                </a:gridCol>
              </a:tblGrid>
              <a:tr h="3379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控制台输入：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469785"/>
                  </a:ext>
                </a:extLst>
              </a:tr>
              <a:tr h="3945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缓冲区存储：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049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057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049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057</a:t>
                      </a:r>
                      <a:endParaRPr lang="zh-CN" altLang="en-US" sz="28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984173"/>
                  </a:ext>
                </a:extLst>
              </a:tr>
              <a:tr h="394567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buf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[0]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buf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[1]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buf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[2]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buf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[3]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7415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7DA12D46-68E1-A773-65FA-0A85FD1222E8}"/>
              </a:ext>
            </a:extLst>
          </p:cNvPr>
          <p:cNvSpPr txBox="1"/>
          <p:nvPr/>
        </p:nvSpPr>
        <p:spPr>
          <a:xfrm>
            <a:off x="796102" y="4290543"/>
            <a:ext cx="6752562" cy="2351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过程：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①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decnum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 = 0 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；双字类型，存储转换后的十进制数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②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decnum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=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decnum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*10 + 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（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buf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[0] -48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③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decnum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decnum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*10 + 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（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buf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[1] -48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④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decnum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decnum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*10 + 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（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2000" b="1" dirty="0" err="1">
                <a:solidFill>
                  <a:schemeClr val="bg2">
                    <a:lumMod val="25000"/>
                  </a:schemeClr>
                </a:solidFill>
              </a:rPr>
              <a:t>buf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[2] -48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</a:rPr>
              <a:t>⑤ 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……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3DA0CD4-BB22-B6E3-DF35-1C63937D3104}"/>
              </a:ext>
            </a:extLst>
          </p:cNvPr>
          <p:cNvSpPr txBox="1"/>
          <p:nvPr/>
        </p:nvSpPr>
        <p:spPr>
          <a:xfrm>
            <a:off x="6676777" y="4715607"/>
            <a:ext cx="3631418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C00000"/>
                </a:solidFill>
              </a:rPr>
              <a:t>decnum</a:t>
            </a:r>
            <a:r>
              <a:rPr lang="en-US" altLang="zh-CN" sz="2000" b="1" dirty="0">
                <a:solidFill>
                  <a:srgbClr val="C00000"/>
                </a:solidFill>
              </a:rPr>
              <a:t> = 1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C00000"/>
                </a:solidFill>
              </a:rPr>
              <a:t>decnum</a:t>
            </a:r>
            <a:r>
              <a:rPr lang="en-US" altLang="zh-CN" sz="2000" b="1" dirty="0">
                <a:solidFill>
                  <a:srgbClr val="C00000"/>
                </a:solidFill>
              </a:rPr>
              <a:t> = 19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C00000"/>
                </a:solidFill>
              </a:rPr>
              <a:t>decnum</a:t>
            </a:r>
            <a:r>
              <a:rPr lang="en-US" altLang="zh-CN" sz="2000" b="1" dirty="0">
                <a:solidFill>
                  <a:srgbClr val="C00000"/>
                </a:solidFill>
              </a:rPr>
              <a:t> = 191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</a:rPr>
              <a:t>……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6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683260" y="803115"/>
            <a:ext cx="10761314" cy="8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dec2dw</a:t>
            </a: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过程参考代码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906439-D713-F5CD-8AA7-8A3FAF74DEB6}"/>
              </a:ext>
            </a:extLst>
          </p:cNvPr>
          <p:cNvSpPr txBox="1"/>
          <p:nvPr/>
        </p:nvSpPr>
        <p:spPr>
          <a:xfrm>
            <a:off x="6509969" y="1204796"/>
            <a:ext cx="516695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.code</a:t>
            </a:r>
            <a:endParaRPr lang="en-US" altLang="zh-CN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dec2dw </a:t>
            </a:r>
            <a:r>
              <a:rPr lang="en-US" altLang="zh-CN" sz="16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PROC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清零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  mov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清零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L1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edx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清零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bl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,[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decstr</a:t>
            </a:r>
            <a:r>
              <a:rPr lang="en-US" altLang="zh-CN" sz="16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CN" sz="16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从字符串开头进行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sub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48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转换为对应十进制数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16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decnum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mul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const10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decnum</a:t>
            </a:r>
            <a:r>
              <a:rPr lang="en-US" altLang="zh-CN" sz="16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decnum</a:t>
            </a:r>
            <a:r>
              <a:rPr lang="en-US" altLang="zh-CN" sz="16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bl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,[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decstr</a:t>
            </a:r>
            <a:r>
              <a:rPr lang="en-US" altLang="zh-CN" sz="16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CN" sz="16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cmp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bl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jnz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L1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ret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dec2dw </a:t>
            </a:r>
            <a:r>
              <a:rPr lang="en-US" altLang="zh-CN" sz="16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ENDP</a:t>
            </a:r>
            <a:endParaRPr lang="en-US" altLang="zh-CN" sz="1600" dirty="0">
              <a:effectLst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C8FFE7-F515-1920-8DBB-10EB233D8403}"/>
              </a:ext>
            </a:extLst>
          </p:cNvPr>
          <p:cNvSpPr txBox="1"/>
          <p:nvPr/>
        </p:nvSpPr>
        <p:spPr>
          <a:xfrm>
            <a:off x="660400" y="2509015"/>
            <a:ext cx="5017308" cy="1169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decstr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BYTE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DUP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160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CN" sz="1600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CN" sz="160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存储十进制字符串</a:t>
            </a:r>
            <a:endParaRPr lang="en-US" altLang="zh-CN" sz="160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decnum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存储十进制的数字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const10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乘</a:t>
            </a:r>
            <a:r>
              <a:rPr lang="en-US" altLang="zh-CN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zh-CN" altLang="en-US" sz="16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操作使用的常数</a:t>
            </a:r>
          </a:p>
        </p:txBody>
      </p:sp>
    </p:spTree>
    <p:extLst>
      <p:ext uri="{BB962C8B-B14F-4D97-AF65-F5344CB8AC3E}">
        <p14:creationId xmlns:p14="http://schemas.microsoft.com/office/powerpoint/2010/main" val="124813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F240674-7DE6-149D-5344-AF65F7C8383C}"/>
              </a:ext>
            </a:extLst>
          </p:cNvPr>
          <p:cNvSpPr txBox="1"/>
          <p:nvPr/>
        </p:nvSpPr>
        <p:spPr>
          <a:xfrm>
            <a:off x="479085" y="949158"/>
            <a:ext cx="11417843" cy="2088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三、十进制整数转十六进制字符串（编写</a:t>
            </a:r>
            <a:r>
              <a:rPr lang="en-US" altLang="zh-CN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dw2hex</a:t>
            </a: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过程实现）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使用除基取余法，将十进制整数转换为十六进制整数，在此过程中，从低位到高位将十六进制数字直接转换为十六进制字符。</a:t>
            </a:r>
            <a:endParaRPr lang="en-US" altLang="zh-CN" sz="20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A7D76E1-C69E-B27A-F713-D4B697B03012}"/>
              </a:ext>
            </a:extLst>
          </p:cNvPr>
          <p:cNvGrpSpPr/>
          <p:nvPr/>
        </p:nvGrpSpPr>
        <p:grpSpPr>
          <a:xfrm>
            <a:off x="4241262" y="2671817"/>
            <a:ext cx="6858004" cy="2960556"/>
            <a:chOff x="2577832" y="3099834"/>
            <a:chExt cx="6858004" cy="2960556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53D4B73-A5AE-E135-4D09-D0B2F25FA4A5}"/>
                </a:ext>
              </a:extLst>
            </p:cNvPr>
            <p:cNvCxnSpPr>
              <a:cxnSpLocks/>
            </p:cNvCxnSpPr>
            <p:nvPr/>
          </p:nvCxnSpPr>
          <p:spPr>
            <a:xfrm>
              <a:off x="3239311" y="3628417"/>
              <a:ext cx="0" cy="51556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6B51095-CCB2-D961-97AD-380C74C7DCE1}"/>
                </a:ext>
              </a:extLst>
            </p:cNvPr>
            <p:cNvCxnSpPr/>
            <p:nvPr/>
          </p:nvCxnSpPr>
          <p:spPr>
            <a:xfrm>
              <a:off x="3249038" y="4134255"/>
              <a:ext cx="142996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2BA39F8-FA9A-D0AF-5795-3A8BDE6B5564}"/>
                </a:ext>
              </a:extLst>
            </p:cNvPr>
            <p:cNvSpPr txBox="1"/>
            <p:nvPr/>
          </p:nvSpPr>
          <p:spPr>
            <a:xfrm>
              <a:off x="3735421" y="3728782"/>
              <a:ext cx="4523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1919		</a:t>
              </a:r>
              <a:r>
                <a:rPr lang="zh-CN" altLang="en-US" sz="12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十进制</a:t>
              </a:r>
              <a:r>
                <a:rPr lang="en-US" altLang="zh-CN" sz="12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r>
                <a:rPr lang="zh-CN" altLang="en-US" sz="12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十六进制</a:t>
              </a:r>
              <a:r>
                <a:rPr lang="en-US" altLang="zh-CN" sz="12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	ASCII</a:t>
              </a:r>
              <a:r>
                <a:rPr lang="zh-CN" altLang="en-US" sz="12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码</a:t>
              </a:r>
              <a:endPara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3E3F0FD-5AA6-D531-4BA9-79D123C262C6}"/>
                </a:ext>
              </a:extLst>
            </p:cNvPr>
            <p:cNvSpPr txBox="1"/>
            <p:nvPr/>
          </p:nvSpPr>
          <p:spPr>
            <a:xfrm>
              <a:off x="2577832" y="3728782"/>
              <a:ext cx="5447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EEE6441-9713-F35F-43EA-DE22FEC35475}"/>
                </a:ext>
              </a:extLst>
            </p:cNvPr>
            <p:cNvSpPr txBox="1"/>
            <p:nvPr/>
          </p:nvSpPr>
          <p:spPr>
            <a:xfrm>
              <a:off x="3822969" y="4263330"/>
              <a:ext cx="481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119	……	15	F	070	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C0B5502-76B0-B531-3CD3-F5D8FFC166A2}"/>
                </a:ext>
              </a:extLst>
            </p:cNvPr>
            <p:cNvCxnSpPr>
              <a:cxnSpLocks/>
            </p:cNvCxnSpPr>
            <p:nvPr/>
          </p:nvCxnSpPr>
          <p:spPr>
            <a:xfrm>
              <a:off x="3459805" y="4208834"/>
              <a:ext cx="0" cy="50583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3D5C718-5C83-7DE7-5391-A36B7158F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804" y="4704945"/>
              <a:ext cx="1219200" cy="972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D525504-244B-1C33-D68B-6170D7D1C924}"/>
                </a:ext>
              </a:extLst>
            </p:cNvPr>
            <p:cNvSpPr txBox="1"/>
            <p:nvPr/>
          </p:nvSpPr>
          <p:spPr>
            <a:xfrm>
              <a:off x="2782113" y="4335613"/>
              <a:ext cx="5447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33D96C3-2B58-30BF-8285-FF2E99587049}"/>
                </a:ext>
              </a:extLst>
            </p:cNvPr>
            <p:cNvSpPr txBox="1"/>
            <p:nvPr/>
          </p:nvSpPr>
          <p:spPr>
            <a:xfrm>
              <a:off x="3822970" y="4875385"/>
              <a:ext cx="464333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7	……	7	7	055		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125A4DA-061F-6B66-78FF-3D31359D588B}"/>
                </a:ext>
              </a:extLst>
            </p:cNvPr>
            <p:cNvCxnSpPr>
              <a:cxnSpLocks/>
            </p:cNvCxnSpPr>
            <p:nvPr/>
          </p:nvCxnSpPr>
          <p:spPr>
            <a:xfrm>
              <a:off x="3725695" y="4781350"/>
              <a:ext cx="0" cy="50583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C91A98F-D4DC-F049-3229-BEC64EAFE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5422" y="5267733"/>
              <a:ext cx="943582" cy="972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654DD0C-04E8-3950-36AF-53705994C24B}"/>
                </a:ext>
              </a:extLst>
            </p:cNvPr>
            <p:cNvSpPr txBox="1"/>
            <p:nvPr/>
          </p:nvSpPr>
          <p:spPr>
            <a:xfrm>
              <a:off x="3122580" y="4906302"/>
              <a:ext cx="5447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D45C1CB-E701-6C11-D18A-606DB043A7EF}"/>
                </a:ext>
              </a:extLst>
            </p:cNvPr>
            <p:cNvSpPr txBox="1"/>
            <p:nvPr/>
          </p:nvSpPr>
          <p:spPr>
            <a:xfrm>
              <a:off x="3822969" y="5414059"/>
              <a:ext cx="47406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0	……	7	7	055		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330D5206-1F58-CC06-5518-540C71A37779}"/>
                </a:ext>
              </a:extLst>
            </p:cNvPr>
            <p:cNvCxnSpPr/>
            <p:nvPr/>
          </p:nvCxnSpPr>
          <p:spPr>
            <a:xfrm flipV="1">
              <a:off x="9046738" y="3481934"/>
              <a:ext cx="0" cy="219635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B7AED70-0AE5-25D8-6195-900573AF4081}"/>
                </a:ext>
              </a:extLst>
            </p:cNvPr>
            <p:cNvSpPr txBox="1"/>
            <p:nvPr/>
          </p:nvSpPr>
          <p:spPr>
            <a:xfrm>
              <a:off x="8725710" y="5721836"/>
              <a:ext cx="710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高位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EE49DD1-1BCB-82F5-AD74-50D6193E3AAE}"/>
                </a:ext>
              </a:extLst>
            </p:cNvPr>
            <p:cNvSpPr txBox="1"/>
            <p:nvPr/>
          </p:nvSpPr>
          <p:spPr>
            <a:xfrm>
              <a:off x="8725710" y="3099834"/>
              <a:ext cx="7101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低位</a:t>
              </a: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5A518973-419F-337C-B23C-BFFDB6698188}"/>
              </a:ext>
            </a:extLst>
          </p:cNvPr>
          <p:cNvSpPr txBox="1"/>
          <p:nvPr/>
        </p:nvSpPr>
        <p:spPr>
          <a:xfrm>
            <a:off x="479085" y="5486047"/>
            <a:ext cx="6094378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注：十六进制</a:t>
            </a:r>
            <a:r>
              <a:rPr lang="zh-CN" altLang="en-US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字符“</a:t>
            </a:r>
            <a:r>
              <a:rPr lang="en-US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0-9</a:t>
            </a:r>
            <a:r>
              <a:rPr lang="zh-CN" altLang="en-US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”对应</a:t>
            </a:r>
            <a:r>
              <a:rPr lang="en-US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ASCII</a:t>
            </a:r>
            <a:r>
              <a:rPr lang="zh-CN" altLang="en-US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码：十进制数</a:t>
            </a:r>
            <a:r>
              <a:rPr lang="en-US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+48</a:t>
            </a:r>
          </a:p>
          <a:p>
            <a:pPr>
              <a:lnSpc>
                <a:spcPct val="150000"/>
              </a:lnSpc>
            </a:pPr>
            <a:r>
              <a:rPr lang="zh-CN" altLang="en-US" sz="18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十六进制</a:t>
            </a:r>
            <a:r>
              <a:rPr lang="zh-CN" altLang="en-US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字符“</a:t>
            </a:r>
            <a:r>
              <a:rPr lang="en-US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A-F</a:t>
            </a:r>
            <a:r>
              <a:rPr lang="zh-CN" altLang="en-US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”对应</a:t>
            </a:r>
            <a:r>
              <a:rPr lang="en-US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ASCII</a:t>
            </a:r>
            <a:r>
              <a:rPr lang="zh-CN" altLang="en-US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码：十进制数</a:t>
            </a:r>
            <a:r>
              <a:rPr lang="en-US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+55</a:t>
            </a:r>
            <a:endParaRPr lang="zh-CN" altLang="en-US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15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761314" cy="367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四、将十六进制数字符串输出到命令行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kern="100" dirty="0" err="1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StdOut</a:t>
            </a:r>
            <a:r>
              <a:rPr lang="zh-CN" altLang="en-US" sz="2400" b="1" kern="1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函数</a:t>
            </a:r>
            <a:r>
              <a:rPr lang="zh-CN" altLang="en-US" sz="2400" b="1" kern="100" dirty="0">
                <a:latin typeface="+mn-ea"/>
                <a:cs typeface="Times New Roman" panose="02020603050405020304" pitchFamily="18" charset="0"/>
              </a:rPr>
              <a:t>定义：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0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StdOut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PROTO :DWORD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 </a:t>
            </a:r>
            <a:r>
              <a:rPr lang="en-US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只有一个参数，是内存存储空间的起始地址</a:t>
            </a:r>
            <a:r>
              <a:rPr lang="zh-CN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示例：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07A568C-CDB1-128D-8264-570E892A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117" y="3618324"/>
            <a:ext cx="5322835" cy="230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9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761314" cy="2812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五、编译和链接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建议使用命令行编译、链接</a:t>
            </a:r>
            <a:endParaRPr lang="en-US" altLang="zh-CN" sz="2000" b="1" kern="100" dirty="0">
              <a:solidFill>
                <a:schemeClr val="bg2">
                  <a:lumMod val="2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也可以使用</a:t>
            </a:r>
            <a:r>
              <a:rPr lang="en-US" altLang="zh-CN" sz="20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MASM32 Editor</a:t>
            </a:r>
            <a:r>
              <a:rPr lang="zh-CN" altLang="en-US" sz="20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自带的编译、链接功能</a:t>
            </a:r>
            <a:endParaRPr lang="en-US" altLang="zh-CN" sz="2000" b="1" kern="100" dirty="0">
              <a:solidFill>
                <a:schemeClr val="bg2">
                  <a:lumMod val="2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zh-CN" sz="2400" b="1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1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3222</TotalTime>
  <Words>617</Words>
  <Application>Microsoft Office PowerPoint</Application>
  <PresentationFormat>宽屏</PresentationFormat>
  <Paragraphs>92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方正姚体</vt:lpstr>
      <vt:lpstr>宋体</vt:lpstr>
      <vt:lpstr>Arial</vt:lpstr>
      <vt:lpstr>Calibri</vt:lpstr>
      <vt:lpstr>Courier New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琮弋 邓</cp:lastModifiedBy>
  <cp:revision>64</cp:revision>
  <dcterms:created xsi:type="dcterms:W3CDTF">2020-05-18T06:41:58Z</dcterms:created>
  <dcterms:modified xsi:type="dcterms:W3CDTF">2024-09-26T01:42:46Z</dcterms:modified>
</cp:coreProperties>
</file>