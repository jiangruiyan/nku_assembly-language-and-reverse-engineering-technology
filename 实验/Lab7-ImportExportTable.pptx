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9" r:id="rId2"/>
    <p:sldId id="353" r:id="rId3"/>
    <p:sldId id="330" r:id="rId4"/>
    <p:sldId id="354" r:id="rId5"/>
    <p:sldId id="355" r:id="rId6"/>
    <p:sldId id="356" r:id="rId7"/>
    <p:sldId id="357" r:id="rId8"/>
    <p:sldId id="359" r:id="rId9"/>
    <p:sldId id="360" r:id="rId10"/>
    <p:sldId id="348" r:id="rId11"/>
    <p:sldId id="361" r:id="rId12"/>
    <p:sldId id="281" r:id="rId13"/>
    <p:sldId id="34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>
    <p:extLst>
      <p:ext uri="{19B8F6BF-5375-455C-9EA6-DF929625EA0E}">
        <p15:presenceInfo xmlns:p15="http://schemas.microsoft.com/office/powerpoint/2012/main" userId="b8725204f13f93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1" autoAdjust="0"/>
    <p:restoredTop sz="86626" autoAdjust="0"/>
  </p:normalViewPr>
  <p:slideViewPr>
    <p:cSldViewPr snapToGrid="0">
      <p:cViewPr varScale="1">
        <p:scale>
          <a:sx n="98" d="100"/>
          <a:sy n="98" d="100"/>
        </p:scale>
        <p:origin x="816" y="-12"/>
      </p:cViewPr>
      <p:guideLst>
        <p:guide pos="415"/>
        <p:guide pos="7265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45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266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763B-7102-CCF5-4BFD-797F697AA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7B6140-1331-DC9E-3AEF-50C18EC5D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5589D7-C608-ECDC-296C-2D1BAC468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3F58AC-32CD-C916-51CB-E00567BC6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400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99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F2AF-B319-B106-A1F1-F6A0693A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82E141-79FB-9E0A-127C-8058FB748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8EA435-C795-5E2D-3827-227C1CB2E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0D23A6-5F4E-6AF2-2DC5-21AF3B59A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897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4EE16-8767-BA6E-FDB8-CFE6A3AD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35230A-DE00-C330-015A-527B4A0D7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C9B065-B19B-50B3-0B27-687A5D223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848EEA-FB4A-3F27-51FE-EE4AFB847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299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07FF-DD27-CBC7-7606-D8BED2BD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E1DA05-3FA7-56DB-130C-756FEFE9F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A15828-541B-9456-2842-CB19C5BDB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9FC966-DCF1-5D23-2FD1-7BE80CAFC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065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1056B-337C-F724-7DB7-4323C86A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D204C9-5CEE-4159-DB3A-B68633BB4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534A9A-458B-43A2-E6B5-2D15A4527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55D783-D80A-2473-3757-FC890ADFC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543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4887-4A27-0122-C003-EA0A51E33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5108FA-FDFF-93B9-8BE1-03F12EBD7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3028FD-B162-6F25-1EC7-624431A64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3CF0A6-2A5D-D136-9492-814FE874C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170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44C64-DA03-662B-EA78-1C93ACC83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EFD8D-E4AE-B954-E59D-60146752E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366B15-2739-7620-3E11-CDE8C8906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3B8138-A550-7992-8119-F6BE5FD5D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436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491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967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  <a:t>2024年11月22日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DEAE36E-49CE-4FD2-A89B-93B59BB486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7B6B2510-D192-43DB-B7BF-5EFDD13C83C8}"/>
              </a:ext>
            </a:extLst>
          </p:cNvPr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FAB3CE2-7F36-4AC9-AB49-E9C74065D5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4CF50560-2190-4576-A880-46A71332D9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F691610-7496-4691-8DA4-2BF5C662F2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E72F19DE-C933-4780-A9D5-5E3A9F568DDF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1E3773-541B-45DF-AAE2-F3E8FFBA5ACD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</p:spTree>
    <p:extLst>
      <p:ext uri="{BB962C8B-B14F-4D97-AF65-F5344CB8AC3E}">
        <p14:creationId xmlns:p14="http://schemas.microsoft.com/office/powerpoint/2010/main" val="3773770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  <a:t>2024年11月22日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A866AF-CBFF-4C86-BA67-F57674E8EA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987AFC30-0CB1-4131-8AD1-611EA0244966}"/>
              </a:ext>
            </a:extLst>
          </p:cNvPr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C7761ED-316B-4AE1-A021-254B2F5CD0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EED8D39C-821D-47EE-BD55-1FE1782760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1EF8460B-605A-4CA8-947B-343AFD9F23B6}"/>
              </a:ext>
            </a:extLst>
          </p:cNvPr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55100BB-0432-4179-A29E-EEB5A4B8787C}"/>
              </a:ext>
            </a:extLst>
          </p:cNvPr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9800CBB8-382E-4297-8D6A-9F3DBC1FE2DA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12C5CEF0-4329-452D-A297-35B9DC34B894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5E49BFA-A960-4E35-903B-1897E749948E}"/>
              </a:ext>
            </a:extLst>
          </p:cNvPr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DFB85FE9-2C21-472B-AAAA-BF22B9BF222D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C3D38E28-B9F5-47DD-AF00-F89CD4302A06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65C5B11-A62F-4D79-B635-6FBB96A4AEC9}"/>
              </a:ext>
            </a:extLst>
          </p:cNvPr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50AED6A3-0F83-4155-9EE2-13D2E46D5AFB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2A9DCE57-A921-4984-AFA7-DBDDCDCE61E6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>
            <a:extLst>
              <a:ext uri="{FF2B5EF4-FFF2-40B4-BE49-F238E27FC236}">
                <a16:creationId xmlns:a16="http://schemas.microsoft.com/office/drawing/2014/main" id="{A8BD827C-BE4B-4E1A-88E5-F73C351928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>
            <a:extLst>
              <a:ext uri="{FF2B5EF4-FFF2-40B4-BE49-F238E27FC236}">
                <a16:creationId xmlns:a16="http://schemas.microsoft.com/office/drawing/2014/main" id="{A9B9B316-9FF5-4EB7-992D-492851A87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>
            <a:extLst>
              <a:ext uri="{FF2B5EF4-FFF2-40B4-BE49-F238E27FC236}">
                <a16:creationId xmlns:a16="http://schemas.microsoft.com/office/drawing/2014/main" id="{403969BD-68AD-4CFC-B767-A6888CAEFA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E306EE0-12D4-47EF-B90C-0A0A11721E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04C5E518-740F-4A9C-AFD4-3655088CC4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21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2C55F21E-5046-4A19-9519-EDF76DD994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4965D6D8-71F1-40FF-BAE1-CAB1438E35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85417601-2881-4637-B17F-CF0977894B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99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AF22D12-7BD8-4802-B35A-AC6A517FA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4717B2-31B8-4E92-BDC1-85A8064411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>
            <a:extLst>
              <a:ext uri="{FF2B5EF4-FFF2-40B4-BE49-F238E27FC236}">
                <a16:creationId xmlns:a16="http://schemas.microsoft.com/office/drawing/2014/main" id="{1C0B404B-7FE1-4A2E-BAA6-98454F02B4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>
            <a:extLst>
              <a:ext uri="{FF2B5EF4-FFF2-40B4-BE49-F238E27FC236}">
                <a16:creationId xmlns:a16="http://schemas.microsoft.com/office/drawing/2014/main" id="{047E7C01-3DCE-455E-BD4E-D920D2FEB5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>
            <a:extLst>
              <a:ext uri="{FF2B5EF4-FFF2-40B4-BE49-F238E27FC236}">
                <a16:creationId xmlns:a16="http://schemas.microsoft.com/office/drawing/2014/main" id="{6F7AD09C-1494-45C9-922C-30BCBEFF91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645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9044961-BE02-43FC-A441-D6C0F8F369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>
            <a:extLst>
              <a:ext uri="{FF2B5EF4-FFF2-40B4-BE49-F238E27FC236}">
                <a16:creationId xmlns:a16="http://schemas.microsoft.com/office/drawing/2014/main" id="{52559BC3-F9A4-4544-8899-8AA9CE393D38}"/>
              </a:ext>
            </a:extLst>
          </p:cNvPr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84A6D6-AB44-4DEE-A97F-6A25FB4BE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63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>
            <a:extLst>
              <a:ext uri="{FF2B5EF4-FFF2-40B4-BE49-F238E27FC236}">
                <a16:creationId xmlns:a16="http://schemas.microsoft.com/office/drawing/2014/main" id="{785AFE29-EA95-4251-A3A9-674E8205AA9F}"/>
              </a:ext>
            </a:extLst>
          </p:cNvPr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>
            <a:extLst>
              <a:ext uri="{FF2B5EF4-FFF2-40B4-BE49-F238E27FC236}">
                <a16:creationId xmlns:a16="http://schemas.microsoft.com/office/drawing/2014/main" id="{B59C19AF-9414-469B-9133-A614C2493A5C}"/>
              </a:ext>
            </a:extLst>
          </p:cNvPr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805E5244-F9CA-44E2-9488-5C3885FF803F}"/>
              </a:ext>
            </a:extLst>
          </p:cNvPr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A2849A6-E3DE-466E-8203-308FA2624B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>
            <a:extLst>
              <a:ext uri="{FF2B5EF4-FFF2-40B4-BE49-F238E27FC236}">
                <a16:creationId xmlns:a16="http://schemas.microsoft.com/office/drawing/2014/main" id="{52559BC3-F9A4-4544-8899-8AA9CE393D38}"/>
              </a:ext>
            </a:extLst>
          </p:cNvPr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84A6D6-AB44-4DEE-A97F-6A25FB4BE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>
            <a:extLst>
              <a:ext uri="{FF2B5EF4-FFF2-40B4-BE49-F238E27FC236}">
                <a16:creationId xmlns:a16="http://schemas.microsoft.com/office/drawing/2014/main" id="{A9ED9AC2-4BF5-46F3-B2BF-33B92A780B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>
            <a:extLst>
              <a:ext uri="{FF2B5EF4-FFF2-40B4-BE49-F238E27FC236}">
                <a16:creationId xmlns:a16="http://schemas.microsoft.com/office/drawing/2014/main" id="{7602DC49-0295-49C4-8C52-493086A4DC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>
            <a:extLst>
              <a:ext uri="{FF2B5EF4-FFF2-40B4-BE49-F238E27FC236}">
                <a16:creationId xmlns:a16="http://schemas.microsoft.com/office/drawing/2014/main" id="{29E3E4D4-C6B8-45BE-A34B-E8C970A6C3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47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E82C0BB-97E3-4E59-8E6D-E28ADA9A1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>
            <a:extLst>
              <a:ext uri="{FF2B5EF4-FFF2-40B4-BE49-F238E27FC236}">
                <a16:creationId xmlns:a16="http://schemas.microsoft.com/office/drawing/2014/main" id="{1A42AABA-2338-4F73-BC3D-B11D310B7B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415EDA-DD8D-44A9-A68B-5AE5CAC2B8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56FD032-69D6-4CC3-BB83-C57F4E47CDBE}"/>
              </a:ext>
            </a:extLst>
          </p:cNvPr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07026F4-28F6-4291-87F1-1BEC01F3FCC7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3CB7D44-B5F3-45B5-A9D7-8FD363BC3A98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59F2D58-A8B4-49B0-B796-E615E886C4C8}"/>
              </a:ext>
            </a:extLst>
          </p:cNvPr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1F6D4A5-212A-45AE-B9E2-836BB7F33432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F5CCA15-D0EA-4214-8C1E-5A37D98F59DF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0924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17571F1-7F19-4F2C-9E1B-F1D60A1C11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FA148D0-4773-4F29-9655-EEA355885918}"/>
              </a:ext>
            </a:extLst>
          </p:cNvPr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84803EE-5490-4695-979E-A30164C67EB5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740A0D5-DDB8-4AFA-804C-31518CA3175A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4EA144E-FC4A-43B0-BC57-E142F6F96F44}"/>
              </a:ext>
            </a:extLst>
          </p:cNvPr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DE14F4D-5ECD-4C8D-A796-7C9A4CB79471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B8D1488-0BD5-4694-AA4B-E2432FEA9C62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CBA056-C739-470A-9AF6-D180CAB88A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2FDF48-3F79-4136-B902-DA97960B8A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72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  <a:t>2024年11月22日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  <a:t>2024年11月22日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  <a:t>2024年11月22日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  <a:t>2024年11月22日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  <a:t>2024年11月22日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  <a:t>2024年11月22日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  <a:t>2024年11月22日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  <a:t>2024年11月22日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1" r:id="rId3"/>
    <p:sldLayoutId id="2147483652" r:id="rId4"/>
    <p:sldLayoutId id="2147483650" r:id="rId5"/>
    <p:sldLayoutId id="2147483660" r:id="rId6"/>
    <p:sldLayoutId id="2147483661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Visio_Drawing1.vsdx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>
            <a:extLst>
              <a:ext uri="{FF2B5EF4-FFF2-40B4-BE49-F238E27FC236}">
                <a16:creationId xmlns:a16="http://schemas.microsoft.com/office/drawing/2014/main" id="{46B9712C-BA09-4F13-9BA2-AED347238ED5}"/>
              </a:ext>
            </a:extLst>
          </p:cNvPr>
          <p:cNvSpPr txBox="1">
            <a:spLocks/>
          </p:cNvSpPr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"/>
                <a:ea typeface="微软雅黑" panose="020B0503020204020204" pitchFamily="34" charset="-122"/>
                <a:sym typeface=""/>
              </a:rPr>
              <a:t>Lab7 - ImportExportTable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"/>
              <a:ea typeface="微软雅黑" panose="020B0503020204020204" pitchFamily="34" charset="-122"/>
              <a:sym typeface=""/>
            </a:endParaRPr>
          </a:p>
        </p:txBody>
      </p:sp>
      <p:sp>
        <p:nvSpPr>
          <p:cNvPr id="22" name="内容占位符 14">
            <a:extLst>
              <a:ext uri="{FF2B5EF4-FFF2-40B4-BE49-F238E27FC236}">
                <a16:creationId xmlns:a16="http://schemas.microsoft.com/office/drawing/2014/main" id="{F8ECA188-EDBA-4335-8A11-A348ED1FD957}"/>
              </a:ext>
            </a:extLst>
          </p:cNvPr>
          <p:cNvSpPr txBox="1">
            <a:spLocks/>
          </p:cNvSpPr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latin typeface="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latin typeface=""/>
                <a:ea typeface="微软雅黑" panose="020B0503020204020204" pitchFamily="34" charset="-122"/>
              </a:rPr>
              <a:t>2024</a:t>
            </a: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atin typeface="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月</a:t>
            </a:r>
            <a:endParaRPr lang="zh-CN" altLang="en-US" sz="2400" dirty="0">
              <a:latin typeface=""/>
              <a:ea typeface="微软雅黑" panose="020B0503020204020204" pitchFamily="34" charset="-122"/>
              <a:sym typeface="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40A08AA-29C1-4F37-ACEA-2C9B87A377F8}"/>
              </a:ext>
            </a:extLst>
          </p:cNvPr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E0B776C-D310-45D7-A0CF-E6CE8CA5E631}"/>
                </a:ext>
              </a:extLst>
            </p:cNvPr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92991FE-ACED-47FF-9518-9AA593CEF89B}"/>
                </a:ext>
              </a:extLst>
            </p:cNvPr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45A2789-8087-4E0D-9920-E62D1F9D9248}"/>
                </a:ext>
              </a:extLst>
            </p:cNvPr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A5E36DE7-C9F1-4329-AA00-01E6E51F14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355F5AB-38CC-4F62-A0A1-BDAE14F99D1B}"/>
              </a:ext>
            </a:extLst>
          </p:cNvPr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B96CD09-B1CF-4B4B-87F6-7221B032C61E}"/>
                </a:ext>
              </a:extLst>
            </p:cNvPr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EB09B1B-39FB-4D45-8774-3573AE9D5FFA}"/>
                </a:ext>
              </a:extLst>
            </p:cNvPr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94D75E6-DA2C-43EA-8C19-B310CEF1B47A}"/>
                </a:ext>
              </a:extLst>
            </p:cNvPr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130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AABB4-78F2-2F45-2CFE-D0A3CBF9B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A2B86F-92E7-8C52-082A-AA299217D212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BFA5F1-D4F9-EECC-100F-89F09119C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72C3BF-ACD3-F649-1756-97A9C9C39D19}"/>
              </a:ext>
            </a:extLst>
          </p:cNvPr>
          <p:cNvSpPr txBox="1"/>
          <p:nvPr/>
        </p:nvSpPr>
        <p:spPr>
          <a:xfrm>
            <a:off x="338115" y="894776"/>
            <a:ext cx="11515770" cy="177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文件的可选头中，数据目录位于可选头结构的末尾，包含一个或多个数据目录项（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IMAGE_DATA_DIRECTORY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）。数据目录的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第一个成员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指向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导出表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第二个成员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指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向导入表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4F261E-52E3-1718-38EB-D6C1DD38F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361225"/>
              </p:ext>
            </p:extLst>
          </p:nvPr>
        </p:nvGraphicFramePr>
        <p:xfrm>
          <a:off x="1428750" y="3062945"/>
          <a:ext cx="9334500" cy="3222046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4613413">
                  <a:extLst>
                    <a:ext uri="{9D8B030D-6E8A-4147-A177-3AD203B41FA5}">
                      <a16:colId xmlns:a16="http://schemas.microsoft.com/office/drawing/2014/main" val="3393304170"/>
                    </a:ext>
                  </a:extLst>
                </a:gridCol>
                <a:gridCol w="4721087">
                  <a:extLst>
                    <a:ext uri="{9D8B030D-6E8A-4147-A177-3AD203B41FA5}">
                      <a16:colId xmlns:a16="http://schemas.microsoft.com/office/drawing/2014/main" val="1756005787"/>
                    </a:ext>
                  </a:extLst>
                </a:gridCol>
              </a:tblGrid>
              <a:tr h="512086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数据目录成员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数据块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5920773"/>
                  </a:ext>
                </a:extLst>
              </a:tr>
              <a:tr h="54199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导出表（</a:t>
                      </a:r>
                      <a:r>
                        <a:rPr lang="en-US" sz="1800" kern="100">
                          <a:effectLst/>
                        </a:rPr>
                        <a:t>Export Table</a:t>
                      </a:r>
                      <a:r>
                        <a:rPr lang="zh-CN" sz="1800" kern="100">
                          <a:effectLst/>
                        </a:rPr>
                        <a:t>）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IMAGE_DIRECTORY_ENTRY_EXPORT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7804973"/>
                  </a:ext>
                </a:extLst>
              </a:tr>
              <a:tr h="54199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导入表（</a:t>
                      </a:r>
                      <a:r>
                        <a:rPr lang="en-US" sz="1800" kern="100" dirty="0">
                          <a:effectLst/>
                        </a:rPr>
                        <a:t>Import Table</a:t>
                      </a:r>
                      <a:r>
                        <a:rPr lang="zh-CN" sz="1800" kern="100" dirty="0">
                          <a:effectLst/>
                        </a:rPr>
                        <a:t>）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IMAGE_DIRECTORY_ENTRY_IMPORT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16488708"/>
                  </a:ext>
                </a:extLst>
              </a:tr>
              <a:tr h="54199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资源表（</a:t>
                      </a:r>
                      <a:r>
                        <a:rPr lang="en-US" sz="1800" kern="100">
                          <a:effectLst/>
                        </a:rPr>
                        <a:t>Resource Table</a:t>
                      </a:r>
                      <a:r>
                        <a:rPr lang="zh-CN" sz="1800" kern="100">
                          <a:effectLst/>
                        </a:rPr>
                        <a:t>）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IMAGE_DIRECTORY_ENTRY_RESOURCE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56620138"/>
                  </a:ext>
                </a:extLst>
              </a:tr>
              <a:tr h="54199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重定位表（</a:t>
                      </a:r>
                      <a:r>
                        <a:rPr lang="en-US" sz="1800" kern="100" dirty="0">
                          <a:effectLst/>
                        </a:rPr>
                        <a:t>Base Relocation Table</a:t>
                      </a:r>
                      <a:r>
                        <a:rPr lang="zh-CN" sz="1800" kern="100" dirty="0">
                          <a:effectLst/>
                        </a:rPr>
                        <a:t>）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IMAGE_DIRECTORY_ENTRY_BASERELOC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2668565"/>
                  </a:ext>
                </a:extLst>
              </a:tr>
              <a:tr h="54199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调试表（</a:t>
                      </a:r>
                      <a:r>
                        <a:rPr lang="en-US" sz="1800" kern="100">
                          <a:effectLst/>
                        </a:rPr>
                        <a:t>Debug Table</a:t>
                      </a:r>
                      <a:r>
                        <a:rPr lang="zh-CN" sz="1800" kern="100">
                          <a:effectLst/>
                        </a:rPr>
                        <a:t>）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IMAGE_DIRECTORY_ENTRY_DEBUG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9935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117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147DFC-9119-3A66-BAE6-726EBC8EC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F3D1C8-BC32-089B-BD0F-A9693F1173D0}"/>
              </a:ext>
            </a:extLst>
          </p:cNvPr>
          <p:cNvSpPr txBox="1"/>
          <p:nvPr/>
        </p:nvSpPr>
        <p:spPr>
          <a:xfrm>
            <a:off x="467580" y="1924464"/>
            <a:ext cx="11515770" cy="259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导入表（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Import Table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）用于存储程序运行时所需的外部函数或变量的引用信息。当一个程序需要调用另一个模块（通常是一个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文件）中的函数或访问其全局变量时，它会使用导入表来跟踪这些外部符号，并在运行时解析这些引用。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158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E868-6A73-66B8-A4C0-C1C8010AF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1A02592-D8AB-35CE-B9D0-AA0414AFB4DB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3FF010-5562-650B-51BE-76F5BA509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7376C3-4FCE-84A5-BE23-C59300A64C49}"/>
              </a:ext>
            </a:extLst>
          </p:cNvPr>
          <p:cNvSpPr txBox="1"/>
          <p:nvPr/>
        </p:nvSpPr>
        <p:spPr>
          <a:xfrm>
            <a:off x="338115" y="1119394"/>
            <a:ext cx="11515770" cy="188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导入表是由一个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IMAGE_IMPORT_DESCRIPTOR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IID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）数组开始的，每一个被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文件隐式链接的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文件都有一个相应的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IID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。在可选头中，并没有特别指定一个字段来指出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IID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数组的条目数，不过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IID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数组通常都以“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NULL”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单元结尾，故可以通过这个空单元来确定是否已经读取到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IID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数组的尾部。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E5A3245-1E90-177F-39CA-ABC3D5F71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6" y="2950290"/>
            <a:ext cx="12034867" cy="296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7FB47-CE23-65EB-EBDF-D2269F34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784763-AA47-A371-1498-AE2598C0B61D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14E609-C4AC-BF63-B2A7-2CDE29D6B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4F6205-9D19-1248-02FA-3D3D238435B9}"/>
              </a:ext>
            </a:extLst>
          </p:cNvPr>
          <p:cNvSpPr txBox="1"/>
          <p:nvPr/>
        </p:nvSpPr>
        <p:spPr>
          <a:xfrm>
            <a:off x="338114" y="943778"/>
            <a:ext cx="11515770" cy="188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OriginalFirstThunk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：包含指向导入名称表（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Import Name Table, INT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）的 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RVA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，该表中存储了被导入模块中每个导入函数的名称或序号。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是一个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IMAGE_THUNK_DATA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结构的数组，数组中每个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IMAGE_THUNK_DATA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结构都指向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IMAGE_IMPORT_BY_NAME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结构，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数组也是以一个空单元作为结束标志。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ACF6253-1B43-673F-3F9E-36C93D452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6" y="2950290"/>
            <a:ext cx="12034867" cy="2963932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6C5EF9D-D64A-A745-5E1B-06537157ECD4}"/>
              </a:ext>
            </a:extLst>
          </p:cNvPr>
          <p:cNvCxnSpPr>
            <a:cxnSpLocks/>
          </p:cNvCxnSpPr>
          <p:nvPr/>
        </p:nvCxnSpPr>
        <p:spPr>
          <a:xfrm>
            <a:off x="1043909" y="3817472"/>
            <a:ext cx="711611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8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0C243-76A4-FE3C-C55E-AA099EC1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49FAFF-E962-2B05-417B-8CA50F822FA3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E18172-4DBC-5ADE-D69A-AB8AB5DD2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FEE994-25EB-73ED-C715-85129932BABF}"/>
              </a:ext>
            </a:extLst>
          </p:cNvPr>
          <p:cNvSpPr txBox="1"/>
          <p:nvPr/>
        </p:nvSpPr>
        <p:spPr>
          <a:xfrm>
            <a:off x="338114" y="943778"/>
            <a:ext cx="11515770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FirstThunk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：包含指向导入地址表（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Import Address Table, IAT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）的 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RVA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IAT 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存储了被导入模块中每个导入函数的地址。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D2D4488-2C01-9BB4-65CF-26761B231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5" y="2335506"/>
            <a:ext cx="12034867" cy="2963932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EBCC92F-592B-7111-1880-0E34AC1727DA}"/>
              </a:ext>
            </a:extLst>
          </p:cNvPr>
          <p:cNvCxnSpPr>
            <a:cxnSpLocks/>
          </p:cNvCxnSpPr>
          <p:nvPr/>
        </p:nvCxnSpPr>
        <p:spPr>
          <a:xfrm>
            <a:off x="1073092" y="4780510"/>
            <a:ext cx="711611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4">
            <a:extLst>
              <a:ext uri="{FF2B5EF4-FFF2-40B4-BE49-F238E27FC236}">
                <a16:creationId xmlns:a16="http://schemas.microsoft.com/office/drawing/2014/main" id="{1C1E6939-BDED-AAA6-C654-C84EF080C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439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A8002-EAB7-345C-C8AC-778BB16B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0C9A662-3F9C-FF8E-7D23-0CF9AE92A49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BF1A5F-BAD4-8E09-9660-3D5098367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8E2921-985E-F443-17AE-D7C68DC13699}"/>
              </a:ext>
            </a:extLst>
          </p:cNvPr>
          <p:cNvSpPr txBox="1"/>
          <p:nvPr/>
        </p:nvSpPr>
        <p:spPr>
          <a:xfrm>
            <a:off x="338114" y="943778"/>
            <a:ext cx="11515770" cy="14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OriginalFirstThunk 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FirstThunk 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两个字段很相似，它们分别指向两个本质上相同的数组，描述了导入模块的导入名称表（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）和 导入地址表（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IAT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 的位置。前者用于获取导入函数的名称，后者用于获取导入函数的地址。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389B2A3-90A5-9513-772C-CB4BD6013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09BB503-861F-F8EC-6D63-759D8BE36E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400074"/>
              </p:ext>
            </p:extLst>
          </p:nvPr>
        </p:nvGraphicFramePr>
        <p:xfrm>
          <a:off x="199816" y="2519834"/>
          <a:ext cx="11792365" cy="3278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467542" imgH="2085898" progId="Visio.Drawing.15">
                  <p:embed/>
                </p:oleObj>
              </mc:Choice>
              <mc:Fallback>
                <p:oleObj name="Visio" r:id="rId3" imgW="7467542" imgH="2085898" progId="Visio.Drawing.15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FCAD3E4-5138-C633-F0E7-0F007DC02F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16" y="2519834"/>
                        <a:ext cx="11792365" cy="32780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9782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5B2E-F9F0-0AFB-E8DF-16FE07C8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7481E18-1E02-42C7-AFFF-61B44EF9C5C1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67FCF-2115-129F-E4C0-366AB0DD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1E03A3-E8AA-C486-51BF-F323D2FB3DD2}"/>
              </a:ext>
            </a:extLst>
          </p:cNvPr>
          <p:cNvSpPr txBox="1"/>
          <p:nvPr/>
        </p:nvSpPr>
        <p:spPr>
          <a:xfrm>
            <a:off x="338113" y="1082446"/>
            <a:ext cx="11515770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IAT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数组中都包含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IMAGE_THUNK_DATA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结构类型的元素，每个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IMAGE_THUNK_DATA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元素对应于一个从其他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文件中导入的函数。两个数组的结束都是由一个空单元来表示。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7B3EEF4-E0F9-A7FF-91A8-984125334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FD72E4-6C12-3E62-5F26-3FE01842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60" y="2243961"/>
            <a:ext cx="10755348" cy="290015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FB96B8A-EEEB-EFD0-EAEA-09A90D2C4896}"/>
              </a:ext>
            </a:extLst>
          </p:cNvPr>
          <p:cNvSpPr txBox="1"/>
          <p:nvPr/>
        </p:nvSpPr>
        <p:spPr>
          <a:xfrm>
            <a:off x="608844" y="5456365"/>
            <a:ext cx="75365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Union</a:t>
            </a:r>
            <a:r>
              <a:rPr lang="zh-CN" altLang="en-US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：允许在相同的内存位置存储不同类型数据的数据结构。</a:t>
            </a:r>
          </a:p>
        </p:txBody>
      </p:sp>
    </p:spTree>
    <p:extLst>
      <p:ext uri="{BB962C8B-B14F-4D97-AF65-F5344CB8AC3E}">
        <p14:creationId xmlns:p14="http://schemas.microsoft.com/office/powerpoint/2010/main" val="3881057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40892-EA71-AA34-6E0F-E47B8E9B3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9470C5-FEA6-E5A1-3B63-232C5ACB6ED6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导入表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9590E7-C626-A6EF-B3B1-B7FFA8E97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A7BA61-522A-2D60-969D-803DA0BAE768}"/>
              </a:ext>
            </a:extLst>
          </p:cNvPr>
          <p:cNvSpPr txBox="1"/>
          <p:nvPr/>
        </p:nvSpPr>
        <p:spPr>
          <a:xfrm>
            <a:off x="338114" y="927031"/>
            <a:ext cx="11515770" cy="14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IMAGE_THUNK_DATA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结构的最高位为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时，表示函数是以序号的方式导入，此时第一个字段的低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31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位被看作是一个函数序号。当这个字段的最高位为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时，表示函数以字符串类型的函数名方式导入，此时这个字段的值是一个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RVA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，指向一个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IMAGE_IMPORT_BY_NAME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结构。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C232610-AB49-79AE-D343-53B923303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17E15D0-01A9-12A7-0107-DC1E84067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21" y="4951137"/>
            <a:ext cx="11160157" cy="1648833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9D65F69-3A9B-5F3A-ED2F-06B445F52C95}"/>
              </a:ext>
            </a:extLst>
          </p:cNvPr>
          <p:cNvCxnSpPr>
            <a:cxnSpLocks/>
          </p:cNvCxnSpPr>
          <p:nvPr/>
        </p:nvCxnSpPr>
        <p:spPr>
          <a:xfrm>
            <a:off x="1208494" y="6094821"/>
            <a:ext cx="785768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34848314-05CC-2C6C-4ED9-8E6229D82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681" y="2429759"/>
            <a:ext cx="9350636" cy="252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71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B6A6EB6-DD1C-7E60-D7F7-1B790C2B5D3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导出表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C5D42E-F2E8-9FFF-242C-204B7917F8C7}"/>
              </a:ext>
            </a:extLst>
          </p:cNvPr>
          <p:cNvSpPr txBox="1"/>
          <p:nvPr/>
        </p:nvSpPr>
        <p:spPr>
          <a:xfrm>
            <a:off x="312853" y="1045252"/>
            <a:ext cx="10280567" cy="1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导出表（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Export Table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）用于记录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文件所导出的函数和数据，使得其他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文件或者可执行文件够访问和调用这些导出的函数和数据。在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文件的可选头中，数据目录的第一个成员就是导出表。导出表指向一个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IMAGE_EXPORT_DESCRIPTOR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IED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）结构。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4210DF-ED4E-DAF1-721E-836A004DE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954" y="2331502"/>
            <a:ext cx="9236466" cy="4058447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5057314-373F-66B2-D28F-7CB8B101A74E}"/>
              </a:ext>
            </a:extLst>
          </p:cNvPr>
          <p:cNvCxnSpPr>
            <a:cxnSpLocks/>
          </p:cNvCxnSpPr>
          <p:nvPr/>
        </p:nvCxnSpPr>
        <p:spPr>
          <a:xfrm>
            <a:off x="1734148" y="5733821"/>
            <a:ext cx="743797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024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C620-3434-CD9A-F86D-F5B8BAAF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42B2F9B-CFC3-781B-CDC6-8132F94B44C3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导出表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560B64-FC6D-1F81-EF0A-446E3AC7F271}"/>
              </a:ext>
            </a:extLst>
          </p:cNvPr>
          <p:cNvSpPr txBox="1"/>
          <p:nvPr/>
        </p:nvSpPr>
        <p:spPr>
          <a:xfrm>
            <a:off x="292975" y="919081"/>
            <a:ext cx="10280567" cy="1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导出表（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Export Table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）用于记录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文件所导出的函数和数据，使得其他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文件或者可执行文件够访问和调用这些导出的函数和数据。在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文件的可选头中，数据目录的第一个成员就是导出表。导出表指向一个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IMAGE_EXPORT_DESCRIPTOR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IED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）结构。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C73F7D1-4DA7-36E1-9175-A4B3FE0C9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611" y="1750978"/>
            <a:ext cx="200504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3BAB19D-42A4-D533-ED4B-43BF6C96B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0930" y="2399306"/>
            <a:ext cx="18463102" cy="4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3650D4B-F44D-4BC9-1A04-EF7BEE0FA1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856747"/>
              </p:ext>
            </p:extLst>
          </p:nvPr>
        </p:nvGraphicFramePr>
        <p:xfrm>
          <a:off x="1480930" y="2399307"/>
          <a:ext cx="8052192" cy="4055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610286" imgH="2828925" progId="Visio.Drawing.15">
                  <p:embed/>
                </p:oleObj>
              </mc:Choice>
              <mc:Fallback>
                <p:oleObj name="Visio" r:id="rId2" imgW="5610286" imgH="2828925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0930" y="2399307"/>
                        <a:ext cx="8052192" cy="40551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5157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221028" y="1108004"/>
            <a:ext cx="7163421" cy="388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文件的文件名，调用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 API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函数，打开指定的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文件；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读取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文件的导入表，显示导入表中引入的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文件名和对应的库函数名字；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读入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文件的导出表，显示导出函数的函数名</a:t>
            </a:r>
            <a:r>
              <a:rPr lang="zh-CN" altLang="en-US" sz="28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445C89D-DF8C-C98E-E113-A34F544B0A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513"/>
          <a:stretch/>
        </p:blipFill>
        <p:spPr bwMode="auto">
          <a:xfrm>
            <a:off x="7570531" y="1935804"/>
            <a:ext cx="4511778" cy="25394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77817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实验报告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715343" y="1218095"/>
            <a:ext cx="10761314" cy="486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描述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文件的导入表的作用和数据结构</a:t>
            </a: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描述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文件的导出表的作用和数据结构</a:t>
            </a: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程序的汇编语言源代码和注释</a:t>
            </a: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程序测试时，导出结果的截图</a:t>
            </a: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讨论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导入表的安全问题</a:t>
            </a:r>
          </a:p>
        </p:txBody>
      </p:sp>
    </p:spTree>
    <p:extLst>
      <p:ext uri="{BB962C8B-B14F-4D97-AF65-F5344CB8AC3E}">
        <p14:creationId xmlns:p14="http://schemas.microsoft.com/office/powerpoint/2010/main" val="737959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4721</TotalTime>
  <Words>918</Words>
  <Application>Microsoft Office PowerPoint</Application>
  <PresentationFormat>宽屏</PresentationFormat>
  <Paragraphs>59</Paragraphs>
  <Slides>13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方正姚体</vt:lpstr>
      <vt:lpstr>Arial</vt:lpstr>
      <vt:lpstr>Calibri</vt:lpstr>
      <vt:lpstr>Times New Roman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琮弋 邓</cp:lastModifiedBy>
  <cp:revision>72</cp:revision>
  <dcterms:created xsi:type="dcterms:W3CDTF">2020-05-18T06:41:58Z</dcterms:created>
  <dcterms:modified xsi:type="dcterms:W3CDTF">2024-11-22T03:27:13Z</dcterms:modified>
</cp:coreProperties>
</file>